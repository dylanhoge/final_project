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PT Sans Narrow"/>
      <p:regular r:id="rId13"/>
      <p:bold r:id="rId14"/>
    </p:embeddedFont>
    <p:embeddedFont>
      <p:font typeface="Open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47CDF5-E053-4F9B-99D8-3D7E05C49A59}">
  <a:tblStyle styleId="{F447CDF5-E053-4F9B-99D8-3D7E05C49A5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TSansNarrow-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OpenSans-regular.fntdata"/><Relationship Id="rId14" Type="http://schemas.openxmlformats.org/officeDocument/2006/relationships/font" Target="fonts/PTSansNarrow-bold.fntdata"/><Relationship Id="rId17" Type="http://schemas.openxmlformats.org/officeDocument/2006/relationships/font" Target="fonts/OpenSans-italic.fntdata"/><Relationship Id="rId16"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ba52726a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ba52726a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ba52726a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ba52726a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ba52726a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ba52726a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ba52726a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ba52726a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ba52726a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ba52726a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nvSpPr>
        <p:spPr>
          <a:xfrm>
            <a:off x="1004150" y="1751775"/>
            <a:ext cx="7179300" cy="1022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3959">
                <a:solidFill>
                  <a:srgbClr val="EF6C00"/>
                </a:solidFill>
                <a:latin typeface="PT Sans Narrow"/>
                <a:ea typeface="PT Sans Narrow"/>
                <a:cs typeface="PT Sans Narrow"/>
                <a:sym typeface="PT Sans Narrow"/>
              </a:rPr>
              <a:t>Gender, Race, &amp; Income:                     Influence on Political Affiliation</a:t>
            </a:r>
            <a:endParaRPr b="1" sz="3459">
              <a:solidFill>
                <a:srgbClr val="EF6C00"/>
              </a:solidFill>
              <a:latin typeface="PT Sans Narrow"/>
              <a:ea typeface="PT Sans Narrow"/>
              <a:cs typeface="PT Sans Narrow"/>
              <a:sym typeface="PT Sans Narrow"/>
            </a:endParaRPr>
          </a:p>
        </p:txBody>
      </p:sp>
      <p:sp>
        <p:nvSpPr>
          <p:cNvPr id="67" name="Google Shape;67;p13"/>
          <p:cNvSpPr txBox="1"/>
          <p:nvPr/>
        </p:nvSpPr>
        <p:spPr>
          <a:xfrm>
            <a:off x="2137225" y="2850050"/>
            <a:ext cx="48423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rgbClr val="695D46"/>
                </a:solidFill>
                <a:latin typeface="Open Sans"/>
                <a:ea typeface="Open Sans"/>
                <a:cs typeface="Open Sans"/>
                <a:sym typeface="Open Sans"/>
              </a:rPr>
              <a:t>Virthiha S., Cordelia T., Dylan H.</a:t>
            </a:r>
            <a:endParaRPr sz="2400">
              <a:solidFill>
                <a:srgbClr val="695D46"/>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73" name="Google Shape;73;p14"/>
          <p:cNvSpPr txBox="1"/>
          <p:nvPr>
            <p:ph idx="1" type="body"/>
          </p:nvPr>
        </p:nvSpPr>
        <p:spPr>
          <a:xfrm>
            <a:off x="311700" y="1047525"/>
            <a:ext cx="8520600" cy="3522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Arial"/>
                <a:ea typeface="Arial"/>
                <a:cs typeface="Arial"/>
                <a:sym typeface="Arial"/>
              </a:rPr>
              <a:t>Subject</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This research examines the </a:t>
            </a:r>
            <a:r>
              <a:rPr lang="en" sz="1400">
                <a:solidFill>
                  <a:srgbClr val="000000"/>
                </a:solidFill>
                <a:latin typeface="Arial"/>
                <a:ea typeface="Arial"/>
                <a:cs typeface="Arial"/>
                <a:sym typeface="Arial"/>
              </a:rPr>
              <a:t>correlation</a:t>
            </a:r>
            <a:r>
              <a:rPr lang="en" sz="1400">
                <a:solidFill>
                  <a:srgbClr val="000000"/>
                </a:solidFill>
                <a:latin typeface="Arial"/>
                <a:ea typeface="Arial"/>
                <a:cs typeface="Arial"/>
                <a:sym typeface="Arial"/>
              </a:rPr>
              <a:t> of demographic factors, specifically gender, race, and income, on political affiliation in the United States. The focus is on understanding how various factors influence whether individuals identify as Democrats or Republicans, in the context of our country’s growing political polarization.</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 sz="1400">
                <a:solidFill>
                  <a:srgbClr val="000000"/>
                </a:solidFill>
                <a:latin typeface="Arial"/>
                <a:ea typeface="Arial"/>
                <a:cs typeface="Arial"/>
                <a:sym typeface="Arial"/>
              </a:rPr>
              <a:t>Motivation</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As political divisions in the U.S. intensify, it is essential to explore the underlying demographic correlations on political affiliation. Understanding how gender, race, and income shape political identity, voting behaviors, and party loyalty can offer insights that are crucial for predicting future voting patterns, informing political campaigns, and guiding policy decisions. </a:t>
            </a:r>
            <a:endParaRPr sz="1400">
              <a:solidFill>
                <a:srgbClr val="000000"/>
              </a:solidFill>
              <a:latin typeface="Arial"/>
              <a:ea typeface="Arial"/>
              <a:cs typeface="Arial"/>
              <a:sym typeface="Arial"/>
            </a:endParaRPr>
          </a:p>
          <a:p>
            <a:pPr indent="0" lvl="0" marL="0" rtl="0" algn="l">
              <a:spcBef>
                <a:spcPts val="1200"/>
              </a:spcBef>
              <a:spcAft>
                <a:spcPts val="1200"/>
              </a:spcAft>
              <a:buNone/>
            </a:pPr>
            <a:r>
              <a:rPr b="1" lang="en" sz="1400">
                <a:solidFill>
                  <a:srgbClr val="000000"/>
                </a:solidFill>
                <a:latin typeface="Arial"/>
                <a:ea typeface="Arial"/>
                <a:cs typeface="Arial"/>
                <a:sym typeface="Arial"/>
              </a:rPr>
              <a:t>Research Question</a:t>
            </a:r>
            <a:r>
              <a:rPr lang="en" sz="1400">
                <a:solidFill>
                  <a:srgbClr val="000000"/>
                </a:solidFill>
                <a:latin typeface="Arial"/>
                <a:ea typeface="Arial"/>
                <a:cs typeface="Arial"/>
                <a:sym typeface="Arial"/>
              </a:rPr>
              <a:t>:</a:t>
            </a:r>
            <a:br>
              <a:rPr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How do gender, race, and income correlate with political affiliation (Democrat vs. Republican) in the United States?</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Set + Variables</a:t>
            </a:r>
            <a:endParaRPr/>
          </a:p>
        </p:txBody>
      </p:sp>
      <p:sp>
        <p:nvSpPr>
          <p:cNvPr id="79" name="Google Shape;79;p15"/>
          <p:cNvSpPr txBox="1"/>
          <p:nvPr>
            <p:ph idx="1" type="body"/>
          </p:nvPr>
        </p:nvSpPr>
        <p:spPr>
          <a:xfrm>
            <a:off x="311700" y="913525"/>
            <a:ext cx="8520600" cy="4088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Char char="-"/>
            </a:pPr>
            <a:r>
              <a:rPr lang="en" sz="1600">
                <a:solidFill>
                  <a:srgbClr val="000000"/>
                </a:solidFill>
                <a:latin typeface="Arial"/>
                <a:ea typeface="Arial"/>
                <a:cs typeface="Arial"/>
                <a:sym typeface="Arial"/>
              </a:rPr>
              <a:t>We used the </a:t>
            </a:r>
            <a:r>
              <a:rPr b="1" lang="en" sz="1600">
                <a:solidFill>
                  <a:srgbClr val="000000"/>
                </a:solidFill>
                <a:latin typeface="Arial"/>
                <a:ea typeface="Arial"/>
                <a:cs typeface="Arial"/>
                <a:sym typeface="Arial"/>
              </a:rPr>
              <a:t>2020 American National Election Study Time Series Data set</a:t>
            </a:r>
            <a:r>
              <a:rPr lang="en" sz="1600">
                <a:solidFill>
                  <a:srgbClr val="000000"/>
                </a:solidFill>
                <a:latin typeface="Arial"/>
                <a:ea typeface="Arial"/>
                <a:cs typeface="Arial"/>
                <a:sym typeface="Arial"/>
              </a:rPr>
              <a:t>. After cleaning, analytical a sample contained </a:t>
            </a:r>
            <a:r>
              <a:rPr b="1" lang="en" sz="1600">
                <a:solidFill>
                  <a:srgbClr val="000000"/>
                </a:solidFill>
                <a:latin typeface="Arial"/>
                <a:ea typeface="Arial"/>
                <a:cs typeface="Arial"/>
                <a:sym typeface="Arial"/>
              </a:rPr>
              <a:t>5,772 respondents and 12 variables</a:t>
            </a:r>
            <a:r>
              <a:rPr lang="en" sz="1600">
                <a:solidFill>
                  <a:srgbClr val="000000"/>
                </a:solidFill>
                <a:latin typeface="Arial"/>
                <a:ea typeface="Arial"/>
                <a:cs typeface="Arial"/>
                <a:sym typeface="Arial"/>
              </a:rPr>
              <a:t>.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latin typeface="Arial"/>
                <a:ea typeface="Arial"/>
                <a:cs typeface="Arial"/>
                <a:sym typeface="Arial"/>
              </a:rPr>
              <a:t>Party_dem:</a:t>
            </a:r>
            <a:r>
              <a:rPr lang="en" sz="1600">
                <a:solidFill>
                  <a:srgbClr val="000000"/>
                </a:solidFill>
                <a:latin typeface="Arial"/>
                <a:ea typeface="Arial"/>
                <a:cs typeface="Arial"/>
                <a:sym typeface="Arial"/>
              </a:rPr>
              <a:t> coded 1 if a </a:t>
            </a:r>
            <a:r>
              <a:rPr lang="en" sz="1600">
                <a:solidFill>
                  <a:srgbClr val="000000"/>
                </a:solidFill>
                <a:latin typeface="Arial"/>
                <a:ea typeface="Arial"/>
                <a:cs typeface="Arial"/>
                <a:sym typeface="Arial"/>
              </a:rPr>
              <a:t>respondent</a:t>
            </a:r>
            <a:r>
              <a:rPr lang="en" sz="1600">
                <a:solidFill>
                  <a:srgbClr val="000000"/>
                </a:solidFill>
                <a:latin typeface="Arial"/>
                <a:ea typeface="Arial"/>
                <a:cs typeface="Arial"/>
                <a:sym typeface="Arial"/>
              </a:rPr>
              <a:t> leaned more Democrat (party ID categories 1-3) and 0 if they leaned Republican (categories 5-7). Pure </a:t>
            </a:r>
            <a:r>
              <a:rPr lang="en" sz="1600">
                <a:solidFill>
                  <a:srgbClr val="000000"/>
                </a:solidFill>
                <a:latin typeface="Arial"/>
                <a:ea typeface="Arial"/>
                <a:cs typeface="Arial"/>
                <a:sym typeface="Arial"/>
              </a:rPr>
              <a:t>independents</a:t>
            </a:r>
            <a:r>
              <a:rPr lang="en" sz="1600">
                <a:solidFill>
                  <a:srgbClr val="000000"/>
                </a:solidFill>
                <a:latin typeface="Arial"/>
                <a:ea typeface="Arial"/>
                <a:cs typeface="Arial"/>
                <a:sym typeface="Arial"/>
              </a:rPr>
              <a:t> and missing values were coded N/A. </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graphicFrame>
        <p:nvGraphicFramePr>
          <p:cNvPr id="80" name="Google Shape;80;p15"/>
          <p:cNvGraphicFramePr/>
          <p:nvPr/>
        </p:nvGraphicFramePr>
        <p:xfrm>
          <a:off x="579225" y="2430150"/>
          <a:ext cx="3000000" cy="3000000"/>
        </p:xfrm>
        <a:graphic>
          <a:graphicData uri="http://schemas.openxmlformats.org/drawingml/2006/table">
            <a:tbl>
              <a:tblPr>
                <a:noFill/>
                <a:tableStyleId>{F447CDF5-E053-4F9B-99D8-3D7E05C49A59}</a:tableStyleId>
              </a:tblPr>
              <a:tblGrid>
                <a:gridCol w="1823300"/>
                <a:gridCol w="6316700"/>
              </a:tblGrid>
              <a:tr h="357075">
                <a:tc>
                  <a:txBody>
                    <a:bodyPr/>
                    <a:lstStyle/>
                    <a:p>
                      <a:pPr indent="0" lvl="0" marL="0" rtl="0" algn="l">
                        <a:spcBef>
                          <a:spcPts val="0"/>
                        </a:spcBef>
                        <a:spcAft>
                          <a:spcPts val="0"/>
                        </a:spcAft>
                        <a:buNone/>
                      </a:pPr>
                      <a:r>
                        <a:rPr b="1" lang="en"/>
                        <a:t>Category</a:t>
                      </a:r>
                      <a:endParaRPr b="1"/>
                    </a:p>
                  </a:txBody>
                  <a:tcPr marT="91425" marB="91425" marR="91425" marL="91425"/>
                </a:tc>
                <a:tc>
                  <a:txBody>
                    <a:bodyPr/>
                    <a:lstStyle/>
                    <a:p>
                      <a:pPr indent="0" lvl="0" marL="0" rtl="0" algn="l">
                        <a:spcBef>
                          <a:spcPts val="0"/>
                        </a:spcBef>
                        <a:spcAft>
                          <a:spcPts val="0"/>
                        </a:spcAft>
                        <a:buNone/>
                      </a:pPr>
                      <a:r>
                        <a:rPr b="1" lang="en"/>
                        <a:t>Code</a:t>
                      </a:r>
                      <a:endParaRPr b="1"/>
                    </a:p>
                  </a:txBody>
                  <a:tcPr marT="91425" marB="91425" marR="91425" marL="91425"/>
                </a:tc>
              </a:tr>
              <a:tr h="357075">
                <a:tc>
                  <a:txBody>
                    <a:bodyPr/>
                    <a:lstStyle/>
                    <a:p>
                      <a:pPr indent="0" lvl="0" marL="0" rtl="0" algn="l">
                        <a:spcBef>
                          <a:spcPts val="0"/>
                        </a:spcBef>
                        <a:spcAft>
                          <a:spcPts val="0"/>
                        </a:spcAft>
                        <a:buNone/>
                      </a:pPr>
                      <a:r>
                        <a:rPr lang="en"/>
                        <a:t>Gender</a:t>
                      </a:r>
                      <a:endParaRPr/>
                    </a:p>
                  </a:txBody>
                  <a:tcPr marT="91425" marB="91425" marR="91425" marL="91425"/>
                </a:tc>
                <a:tc>
                  <a:txBody>
                    <a:bodyPr/>
                    <a:lstStyle/>
                    <a:p>
                      <a:pPr indent="0" lvl="0" marL="0" rtl="0" algn="l">
                        <a:spcBef>
                          <a:spcPts val="0"/>
                        </a:spcBef>
                        <a:spcAft>
                          <a:spcPts val="0"/>
                        </a:spcAft>
                        <a:buNone/>
                      </a:pPr>
                      <a:r>
                        <a:rPr lang="en"/>
                        <a:t>1 = female, 0 = male</a:t>
                      </a:r>
                      <a:endParaRPr/>
                    </a:p>
                  </a:txBody>
                  <a:tcPr marT="91425" marB="91425" marR="91425" marL="91425"/>
                </a:tc>
              </a:tr>
              <a:tr h="357075">
                <a:tc>
                  <a:txBody>
                    <a:bodyPr/>
                    <a:lstStyle/>
                    <a:p>
                      <a:pPr indent="0" lvl="0" marL="0" rtl="0" algn="l">
                        <a:spcBef>
                          <a:spcPts val="0"/>
                        </a:spcBef>
                        <a:spcAft>
                          <a:spcPts val="0"/>
                        </a:spcAft>
                        <a:buNone/>
                      </a:pPr>
                      <a:r>
                        <a:rPr lang="en"/>
                        <a:t>Race</a:t>
                      </a:r>
                      <a:endParaRPr/>
                    </a:p>
                  </a:txBody>
                  <a:tcPr marT="91425" marB="91425" marR="91425" marL="91425"/>
                </a:tc>
                <a:tc>
                  <a:txBody>
                    <a:bodyPr/>
                    <a:lstStyle/>
                    <a:p>
                      <a:pPr indent="0" lvl="0" marL="0" rtl="0" algn="l">
                        <a:spcBef>
                          <a:spcPts val="0"/>
                        </a:spcBef>
                        <a:spcAft>
                          <a:spcPts val="0"/>
                        </a:spcAft>
                        <a:buNone/>
                      </a:pPr>
                      <a:r>
                        <a:rPr lang="en"/>
                        <a:t>1 = </a:t>
                      </a:r>
                      <a:r>
                        <a:rPr lang="en"/>
                        <a:t>white</a:t>
                      </a:r>
                      <a:r>
                        <a:rPr lang="en"/>
                        <a:t>, 0 = non-white</a:t>
                      </a:r>
                      <a:endParaRPr/>
                    </a:p>
                  </a:txBody>
                  <a:tcPr marT="91425" marB="91425" marR="91425" marL="91425"/>
                </a:tc>
              </a:tr>
              <a:tr h="357075">
                <a:tc>
                  <a:txBody>
                    <a:bodyPr/>
                    <a:lstStyle/>
                    <a:p>
                      <a:pPr indent="0" lvl="0" marL="0" rtl="0" algn="l">
                        <a:spcBef>
                          <a:spcPts val="0"/>
                        </a:spcBef>
                        <a:spcAft>
                          <a:spcPts val="0"/>
                        </a:spcAft>
                        <a:buNone/>
                      </a:pPr>
                      <a:r>
                        <a:rPr lang="en"/>
                        <a:t>Income3, inc_sum </a:t>
                      </a:r>
                      <a:endParaRPr/>
                    </a:p>
                  </a:txBody>
                  <a:tcPr marT="91425" marB="91425" marR="91425" marL="91425"/>
                </a:tc>
                <a:tc>
                  <a:txBody>
                    <a:bodyPr/>
                    <a:lstStyle/>
                    <a:p>
                      <a:pPr indent="0" lvl="0" marL="0" rtl="0" algn="l">
                        <a:lnSpc>
                          <a:spcPct val="115000"/>
                        </a:lnSpc>
                        <a:spcBef>
                          <a:spcPts val="0"/>
                        </a:spcBef>
                        <a:spcAft>
                          <a:spcPts val="1200"/>
                        </a:spcAft>
                        <a:buNone/>
                      </a:pPr>
                      <a:r>
                        <a:rPr lang="en"/>
                        <a:t>3 categories (Low, Medium, High), </a:t>
                      </a:r>
                      <a:endParaRPr/>
                    </a:p>
                  </a:txBody>
                  <a:tcPr marT="91425" marB="91425" marR="91425" marL="91425"/>
                </a:tc>
              </a:tr>
              <a:tr h="357075">
                <a:tc>
                  <a:txBody>
                    <a:bodyPr/>
                    <a:lstStyle/>
                    <a:p>
                      <a:pPr indent="0" lvl="0" marL="0" rtl="0" algn="l">
                        <a:spcBef>
                          <a:spcPts val="0"/>
                        </a:spcBef>
                        <a:spcAft>
                          <a:spcPts val="0"/>
                        </a:spcAft>
                        <a:buNone/>
                      </a:pPr>
                      <a:r>
                        <a:rPr lang="en"/>
                        <a:t>educ5</a:t>
                      </a:r>
                      <a:endParaRPr/>
                    </a:p>
                  </a:txBody>
                  <a:tcPr marT="91425" marB="91425" marR="91425" marL="91425"/>
                </a:tc>
                <a:tc>
                  <a:txBody>
                    <a:bodyPr/>
                    <a:lstStyle/>
                    <a:p>
                      <a:pPr indent="0" lvl="0" marL="0" rtl="0" algn="l">
                        <a:spcBef>
                          <a:spcPts val="0"/>
                        </a:spcBef>
                        <a:spcAft>
                          <a:spcPts val="0"/>
                        </a:spcAft>
                        <a:buNone/>
                      </a:pPr>
                      <a:r>
                        <a:rPr lang="en"/>
                        <a:t>5 categories (higher values = more education)</a:t>
                      </a:r>
                      <a:endParaRPr/>
                    </a:p>
                  </a:txBody>
                  <a:tcPr marT="91425" marB="91425" marR="91425" marL="91425"/>
                </a:tc>
              </a:tr>
              <a:tr h="539250">
                <a:tc>
                  <a:txBody>
                    <a:bodyPr/>
                    <a:lstStyle/>
                    <a:p>
                      <a:pPr indent="0" lvl="0" marL="0" rtl="0" algn="l">
                        <a:spcBef>
                          <a:spcPts val="0"/>
                        </a:spcBef>
                        <a:spcAft>
                          <a:spcPts val="0"/>
                        </a:spcAft>
                        <a:buNone/>
                      </a:pPr>
                      <a:r>
                        <a:rPr lang="en"/>
                        <a:t>i</a:t>
                      </a:r>
                      <a:r>
                        <a:rPr lang="en"/>
                        <a:t>deology7</a:t>
                      </a:r>
                      <a:endParaRPr/>
                    </a:p>
                  </a:txBody>
                  <a:tcPr marT="91425" marB="91425" marR="91425" marL="91425"/>
                </a:tc>
                <a:tc>
                  <a:txBody>
                    <a:bodyPr/>
                    <a:lstStyle/>
                    <a:p>
                      <a:pPr indent="0" lvl="0" marL="0" rtl="0" algn="l">
                        <a:spcBef>
                          <a:spcPts val="0"/>
                        </a:spcBef>
                        <a:spcAft>
                          <a:spcPts val="0"/>
                        </a:spcAft>
                        <a:buNone/>
                      </a:pPr>
                      <a:r>
                        <a:rPr lang="en"/>
                        <a:t>7 categories, self placement (1 = extremely liberal, 7 extremely conservative)</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Highlights from the descriptive statistics</a:t>
            </a:r>
            <a:endParaRPr/>
          </a:p>
        </p:txBody>
      </p:sp>
      <p:sp>
        <p:nvSpPr>
          <p:cNvPr id="86" name="Google Shape;86;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6"/>
          <p:cNvPicPr preferRelativeResize="0"/>
          <p:nvPr/>
        </p:nvPicPr>
        <p:blipFill>
          <a:blip r:embed="rId3">
            <a:alphaModFix/>
          </a:blip>
          <a:stretch>
            <a:fillRect/>
          </a:stretch>
        </p:blipFill>
        <p:spPr>
          <a:xfrm>
            <a:off x="5918925" y="1151138"/>
            <a:ext cx="2973550" cy="3785775"/>
          </a:xfrm>
          <a:prstGeom prst="rect">
            <a:avLst/>
          </a:prstGeom>
          <a:noFill/>
          <a:ln>
            <a:noFill/>
          </a:ln>
        </p:spPr>
      </p:pic>
      <p:pic>
        <p:nvPicPr>
          <p:cNvPr id="88" name="Google Shape;88;p16"/>
          <p:cNvPicPr preferRelativeResize="0"/>
          <p:nvPr/>
        </p:nvPicPr>
        <p:blipFill>
          <a:blip r:embed="rId4">
            <a:alphaModFix/>
          </a:blip>
          <a:stretch>
            <a:fillRect/>
          </a:stretch>
        </p:blipFill>
        <p:spPr>
          <a:xfrm>
            <a:off x="3031572" y="1082825"/>
            <a:ext cx="3080850" cy="3922400"/>
          </a:xfrm>
          <a:prstGeom prst="rect">
            <a:avLst/>
          </a:prstGeom>
          <a:noFill/>
          <a:ln>
            <a:noFill/>
          </a:ln>
        </p:spPr>
      </p:pic>
      <p:pic>
        <p:nvPicPr>
          <p:cNvPr id="89" name="Google Shape;89;p16"/>
          <p:cNvPicPr preferRelativeResize="0"/>
          <p:nvPr/>
        </p:nvPicPr>
        <p:blipFill>
          <a:blip r:embed="rId5">
            <a:alphaModFix/>
          </a:blip>
          <a:stretch>
            <a:fillRect/>
          </a:stretch>
        </p:blipFill>
        <p:spPr>
          <a:xfrm>
            <a:off x="0" y="1024775"/>
            <a:ext cx="3080850" cy="39224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graphicFrame>
        <p:nvGraphicFramePr>
          <p:cNvPr id="95" name="Google Shape;95;p17"/>
          <p:cNvGraphicFramePr/>
          <p:nvPr/>
        </p:nvGraphicFramePr>
        <p:xfrm>
          <a:off x="105275" y="1164350"/>
          <a:ext cx="3000000" cy="3000000"/>
        </p:xfrm>
        <a:graphic>
          <a:graphicData uri="http://schemas.openxmlformats.org/drawingml/2006/table">
            <a:tbl>
              <a:tblPr>
                <a:noFill/>
                <a:tableStyleId>{F447CDF5-E053-4F9B-99D8-3D7E05C49A59}</a:tableStyleId>
              </a:tblPr>
              <a:tblGrid>
                <a:gridCol w="1994175"/>
                <a:gridCol w="1994175"/>
              </a:tblGrid>
              <a:tr h="479400">
                <a:tc>
                  <a:txBody>
                    <a:bodyPr/>
                    <a:lstStyle/>
                    <a:p>
                      <a:pPr indent="0" lvl="0" marL="0" rtl="0" algn="l">
                        <a:spcBef>
                          <a:spcPts val="0"/>
                        </a:spcBef>
                        <a:spcAft>
                          <a:spcPts val="0"/>
                        </a:spcAft>
                        <a:buNone/>
                      </a:pPr>
                      <a:r>
                        <a:rPr lang="en"/>
                        <a:t>H1 - Gender</a:t>
                      </a:r>
                      <a:endParaRPr/>
                    </a:p>
                  </a:txBody>
                  <a:tcPr marT="91425" marB="91425" marR="91425" marL="91425"/>
                </a:tc>
                <a:tc>
                  <a:txBody>
                    <a:bodyPr/>
                    <a:lstStyle/>
                    <a:p>
                      <a:pPr indent="0" lvl="0" marL="0" rtl="0" algn="l">
                        <a:spcBef>
                          <a:spcPts val="0"/>
                        </a:spcBef>
                        <a:spcAft>
                          <a:spcPts val="0"/>
                        </a:spcAft>
                        <a:buNone/>
                      </a:pPr>
                      <a:r>
                        <a:rPr lang="en"/>
                        <a:t>H2 - Race</a:t>
                      </a:r>
                      <a:endParaRPr/>
                    </a:p>
                  </a:txBody>
                  <a:tcPr marT="91425" marB="91425" marR="91425" marL="91425">
                    <a:lnB cap="flat" cmpd="sng" w="9525">
                      <a:solidFill>
                        <a:srgbClr val="9E9E9E"/>
                      </a:solidFill>
                      <a:prstDash val="solid"/>
                      <a:round/>
                      <a:headEnd len="sm" w="sm" type="none"/>
                      <a:tailEnd len="sm" w="sm" type="none"/>
                    </a:lnB>
                  </a:tcPr>
                </a:tc>
              </a:tr>
              <a:tr h="461000">
                <a:tc>
                  <a:txBody>
                    <a:bodyPr/>
                    <a:lstStyle/>
                    <a:p>
                      <a:pPr indent="0" lvl="0" marL="0" rtl="0" algn="l">
                        <a:spcBef>
                          <a:spcPts val="0"/>
                        </a:spcBef>
                        <a:spcAft>
                          <a:spcPts val="0"/>
                        </a:spcAft>
                        <a:buNone/>
                      </a:pPr>
                      <a:r>
                        <a:rPr lang="en"/>
                        <a:t>Women: 57.6% </a:t>
                      </a:r>
                      <a:r>
                        <a:rPr lang="en"/>
                        <a:t>Dem.</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Non-White: 71.6% Dem.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1000">
                <a:tc>
                  <a:txBody>
                    <a:bodyPr/>
                    <a:lstStyle/>
                    <a:p>
                      <a:pPr indent="0" lvl="0" marL="0" rtl="0" algn="l">
                        <a:spcBef>
                          <a:spcPts val="0"/>
                        </a:spcBef>
                        <a:spcAft>
                          <a:spcPts val="0"/>
                        </a:spcAft>
                        <a:buNone/>
                      </a:pPr>
                      <a:r>
                        <a:rPr lang="en"/>
                        <a:t>Men: 57.6% Dem.</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White: 46.6% Dem.</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1000">
                <a:tc>
                  <a:txBody>
                    <a:bodyPr/>
                    <a:lstStyle/>
                    <a:p>
                      <a:pPr indent="0" lvl="0" marL="0" rtl="0" algn="l">
                        <a:spcBef>
                          <a:spcPts val="0"/>
                        </a:spcBef>
                        <a:spcAft>
                          <a:spcPts val="0"/>
                        </a:spcAft>
                        <a:buNone/>
                      </a:pPr>
                      <a:r>
                        <a:rPr lang="en"/>
                        <a:t>P-value: 7.7 * 10^-17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P-value: 3.5 * 10^-84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1000">
                <a:tc>
                  <a:txBody>
                    <a:bodyPr/>
                    <a:lstStyle/>
                    <a:p>
                      <a:pPr indent="0" lvl="0" marL="0" rtl="0" algn="l">
                        <a:spcBef>
                          <a:spcPts val="0"/>
                        </a:spcBef>
                        <a:spcAft>
                          <a:spcPts val="0"/>
                        </a:spcAft>
                        <a:buNone/>
                      </a:pPr>
                      <a:r>
                        <a:rPr lang="en"/>
                        <a:t>H1 is strongly supported.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H2 is strongly supported.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96" name="Google Shape;96;p17"/>
          <p:cNvGraphicFramePr/>
          <p:nvPr/>
        </p:nvGraphicFramePr>
        <p:xfrm>
          <a:off x="4093625" y="1164350"/>
          <a:ext cx="3000000" cy="3000000"/>
        </p:xfrm>
        <a:graphic>
          <a:graphicData uri="http://schemas.openxmlformats.org/drawingml/2006/table">
            <a:tbl>
              <a:tblPr>
                <a:noFill/>
                <a:tableStyleId>{F447CDF5-E053-4F9B-99D8-3D7E05C49A59}</a:tableStyleId>
              </a:tblPr>
              <a:tblGrid>
                <a:gridCol w="2247650"/>
              </a:tblGrid>
              <a:tr h="413550">
                <a:tc>
                  <a:txBody>
                    <a:bodyPr/>
                    <a:lstStyle/>
                    <a:p>
                      <a:pPr indent="0" lvl="0" marL="0" rtl="0" algn="l">
                        <a:spcBef>
                          <a:spcPts val="0"/>
                        </a:spcBef>
                        <a:spcAft>
                          <a:spcPts val="0"/>
                        </a:spcAft>
                        <a:buNone/>
                      </a:pPr>
                      <a:r>
                        <a:rPr lang="en"/>
                        <a:t>H3 - Income</a:t>
                      </a:r>
                      <a:endParaRPr/>
                    </a:p>
                  </a:txBody>
                  <a:tcPr marT="91425" marB="91425" marR="91425" marL="91425"/>
                </a:tc>
              </a:tr>
              <a:tr h="398475">
                <a:tc>
                  <a:txBody>
                    <a:bodyPr/>
                    <a:lstStyle/>
                    <a:p>
                      <a:pPr indent="0" lvl="0" marL="0" rtl="0" algn="l">
                        <a:spcBef>
                          <a:spcPts val="0"/>
                        </a:spcBef>
                        <a:spcAft>
                          <a:spcPts val="0"/>
                        </a:spcAft>
                        <a:buNone/>
                      </a:pPr>
                      <a:r>
                        <a:rPr lang="en"/>
                        <a:t>Low: 55.7% Dem.</a:t>
                      </a:r>
                      <a:endParaRPr/>
                    </a:p>
                  </a:txBody>
                  <a:tcPr marT="91425" marB="91425" marR="91425" marL="91425"/>
                </a:tc>
              </a:tr>
              <a:tr h="398475">
                <a:tc>
                  <a:txBody>
                    <a:bodyPr/>
                    <a:lstStyle/>
                    <a:p>
                      <a:pPr indent="0" lvl="0" marL="0" rtl="0" algn="l">
                        <a:spcBef>
                          <a:spcPts val="0"/>
                        </a:spcBef>
                        <a:spcAft>
                          <a:spcPts val="0"/>
                        </a:spcAft>
                        <a:buNone/>
                      </a:pPr>
                      <a:r>
                        <a:rPr lang="en"/>
                        <a:t>Middle: 50.5% Dem.</a:t>
                      </a:r>
                      <a:endParaRPr/>
                    </a:p>
                  </a:txBody>
                  <a:tcPr marT="91425" marB="91425" marR="91425" marL="91425"/>
                </a:tc>
              </a:tr>
              <a:tr h="398475">
                <a:tc>
                  <a:txBody>
                    <a:bodyPr/>
                    <a:lstStyle/>
                    <a:p>
                      <a:pPr indent="0" lvl="0" marL="0" rtl="0" algn="l">
                        <a:spcBef>
                          <a:spcPts val="0"/>
                        </a:spcBef>
                        <a:spcAft>
                          <a:spcPts val="0"/>
                        </a:spcAft>
                        <a:buNone/>
                      </a:pPr>
                      <a:r>
                        <a:rPr lang="en"/>
                        <a:t>High: 52.1%</a:t>
                      </a:r>
                      <a:endParaRPr/>
                    </a:p>
                  </a:txBody>
                  <a:tcPr marT="91425" marB="91425" marR="91425" marL="91425"/>
                </a:tc>
              </a:tr>
              <a:tr h="398475">
                <a:tc>
                  <a:txBody>
                    <a:bodyPr/>
                    <a:lstStyle/>
                    <a:p>
                      <a:pPr indent="0" lvl="0" marL="0" rtl="0" algn="l">
                        <a:spcBef>
                          <a:spcPts val="0"/>
                        </a:spcBef>
                        <a:spcAft>
                          <a:spcPts val="0"/>
                        </a:spcAft>
                        <a:buNone/>
                      </a:pPr>
                      <a:r>
                        <a:rPr lang="en"/>
                        <a:t>ANOVA P-value: 0.00812</a:t>
                      </a:r>
                      <a:endParaRPr/>
                    </a:p>
                  </a:txBody>
                  <a:tcPr marT="91425" marB="91425" marR="91425" marL="91425"/>
                </a:tc>
              </a:tr>
              <a:tr h="613050">
                <a:tc>
                  <a:txBody>
                    <a:bodyPr/>
                    <a:lstStyle/>
                    <a:p>
                      <a:pPr indent="0" lvl="0" marL="0" rtl="0" algn="l">
                        <a:spcBef>
                          <a:spcPts val="0"/>
                        </a:spcBef>
                        <a:spcAft>
                          <a:spcPts val="0"/>
                        </a:spcAft>
                        <a:buNone/>
                      </a:pPr>
                      <a:r>
                        <a:rPr lang="en"/>
                        <a:t>H3 is supported but weaker.</a:t>
                      </a:r>
                      <a:endParaRPr/>
                    </a:p>
                  </a:txBody>
                  <a:tcPr marT="91425" marB="91425" marR="91425" marL="91425"/>
                </a:tc>
              </a:tr>
            </a:tbl>
          </a:graphicData>
        </a:graphic>
      </p:graphicFrame>
      <p:graphicFrame>
        <p:nvGraphicFramePr>
          <p:cNvPr id="97" name="Google Shape;97;p17"/>
          <p:cNvGraphicFramePr/>
          <p:nvPr/>
        </p:nvGraphicFramePr>
        <p:xfrm>
          <a:off x="6341275" y="728150"/>
          <a:ext cx="3000000" cy="3000000"/>
        </p:xfrm>
        <a:graphic>
          <a:graphicData uri="http://schemas.openxmlformats.org/drawingml/2006/table">
            <a:tbl>
              <a:tblPr>
                <a:noFill/>
                <a:tableStyleId>{F447CDF5-E053-4F9B-99D8-3D7E05C49A59}</a:tableStyleId>
              </a:tblPr>
              <a:tblGrid>
                <a:gridCol w="1583825"/>
                <a:gridCol w="1130150"/>
              </a:tblGrid>
              <a:tr h="375300">
                <a:tc gridSpan="2">
                  <a:txBody>
                    <a:bodyPr/>
                    <a:lstStyle/>
                    <a:p>
                      <a:pPr indent="0" lvl="0" marL="0" rtl="0" algn="ctr">
                        <a:spcBef>
                          <a:spcPts val="0"/>
                        </a:spcBef>
                        <a:spcAft>
                          <a:spcPts val="0"/>
                        </a:spcAft>
                        <a:buNone/>
                      </a:pPr>
                      <a:r>
                        <a:rPr lang="en"/>
                        <a:t>Regression Model </a:t>
                      </a:r>
                      <a:endParaRPr/>
                    </a:p>
                  </a:txBody>
                  <a:tcPr marT="91425" marB="91425" marR="91425" marL="91425"/>
                </a:tc>
                <a:tc hMerge="1"/>
              </a:tr>
              <a:tr h="375300">
                <a:tc>
                  <a:txBody>
                    <a:bodyPr/>
                    <a:lstStyle/>
                    <a:p>
                      <a:pPr indent="0" lvl="0" marL="0" rtl="0" algn="l">
                        <a:spcBef>
                          <a:spcPts val="0"/>
                        </a:spcBef>
                        <a:spcAft>
                          <a:spcPts val="0"/>
                        </a:spcAft>
                        <a:buNone/>
                      </a:pPr>
                      <a:r>
                        <a:rPr lang="en"/>
                        <a:t>Estimate</a:t>
                      </a:r>
                      <a:endParaRPr/>
                    </a:p>
                  </a:txBody>
                  <a:tcPr marT="91425" marB="91425" marR="91425" marL="91425"/>
                </a:tc>
                <a:tc>
                  <a:txBody>
                    <a:bodyPr/>
                    <a:lstStyle/>
                    <a:p>
                      <a:pPr indent="0" lvl="0" marL="0" rtl="0" algn="l">
                        <a:spcBef>
                          <a:spcPts val="0"/>
                        </a:spcBef>
                        <a:spcAft>
                          <a:spcPts val="0"/>
                        </a:spcAft>
                        <a:buNone/>
                      </a:pPr>
                      <a:r>
                        <a:rPr lang="en"/>
                        <a:t>P-value</a:t>
                      </a:r>
                      <a:endParaRPr/>
                    </a:p>
                  </a:txBody>
                  <a:tcPr marT="91425" marB="91425" marR="91425" marL="91425"/>
                </a:tc>
              </a:tr>
              <a:tr h="375300">
                <a:tc>
                  <a:txBody>
                    <a:bodyPr/>
                    <a:lstStyle/>
                    <a:p>
                      <a:pPr indent="0" lvl="0" marL="0" rtl="0" algn="l">
                        <a:spcBef>
                          <a:spcPts val="0"/>
                        </a:spcBef>
                        <a:spcAft>
                          <a:spcPts val="0"/>
                        </a:spcAft>
                        <a:buNone/>
                      </a:pPr>
                      <a:r>
                        <a:rPr lang="en"/>
                        <a:t>Start: 1.440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75300">
                <a:tc>
                  <a:txBody>
                    <a:bodyPr/>
                    <a:lstStyle/>
                    <a:p>
                      <a:pPr indent="0" lvl="0" marL="0" rtl="0" algn="l">
                        <a:spcBef>
                          <a:spcPts val="0"/>
                        </a:spcBef>
                        <a:spcAft>
                          <a:spcPts val="0"/>
                        </a:spcAft>
                        <a:buNone/>
                      </a:pPr>
                      <a:r>
                        <a:rPr lang="en"/>
                        <a:t>Female: 0.029</a:t>
                      </a:r>
                      <a:endParaRPr/>
                    </a:p>
                  </a:txBody>
                  <a:tcPr marT="91425" marB="91425" marR="91425" marL="91425"/>
                </a:tc>
                <a:tc>
                  <a:txBody>
                    <a:bodyPr/>
                    <a:lstStyle/>
                    <a:p>
                      <a:pPr indent="0" lvl="0" marL="0" rtl="0" algn="l">
                        <a:spcBef>
                          <a:spcPts val="0"/>
                        </a:spcBef>
                        <a:spcAft>
                          <a:spcPts val="0"/>
                        </a:spcAft>
                        <a:buNone/>
                      </a:pPr>
                      <a:r>
                        <a:rPr lang="en"/>
                        <a:t>7.89*10^-4</a:t>
                      </a:r>
                      <a:endParaRPr/>
                    </a:p>
                  </a:txBody>
                  <a:tcPr marT="91425" marB="91425" marR="91425" marL="91425"/>
                </a:tc>
              </a:tr>
              <a:tr h="375300">
                <a:tc>
                  <a:txBody>
                    <a:bodyPr/>
                    <a:lstStyle/>
                    <a:p>
                      <a:pPr indent="0" lvl="0" marL="0" rtl="0" algn="l">
                        <a:spcBef>
                          <a:spcPts val="0"/>
                        </a:spcBef>
                        <a:spcAft>
                          <a:spcPts val="0"/>
                        </a:spcAft>
                        <a:buNone/>
                      </a:pPr>
                      <a:r>
                        <a:rPr lang="en"/>
                        <a:t>White: -0.195</a:t>
                      </a:r>
                      <a:endParaRPr/>
                    </a:p>
                  </a:txBody>
                  <a:tcPr marT="91425" marB="91425" marR="91425" marL="91425"/>
                </a:tc>
                <a:tc>
                  <a:txBody>
                    <a:bodyPr/>
                    <a:lstStyle/>
                    <a:p>
                      <a:pPr indent="0" lvl="0" marL="0" rtl="0" algn="l">
                        <a:spcBef>
                          <a:spcPts val="0"/>
                        </a:spcBef>
                        <a:spcAft>
                          <a:spcPts val="0"/>
                        </a:spcAft>
                        <a:buNone/>
                      </a:pPr>
                      <a:r>
                        <a:rPr lang="en"/>
                        <a:t>4*10^-53</a:t>
                      </a:r>
                      <a:endParaRPr/>
                    </a:p>
                  </a:txBody>
                  <a:tcPr marT="91425" marB="91425" marR="91425" marL="91425"/>
                </a:tc>
              </a:tr>
              <a:tr h="577400">
                <a:tc>
                  <a:txBody>
                    <a:bodyPr/>
                    <a:lstStyle/>
                    <a:p>
                      <a:pPr indent="0" lvl="0" marL="0" rtl="0" algn="l">
                        <a:spcBef>
                          <a:spcPts val="0"/>
                        </a:spcBef>
                        <a:spcAft>
                          <a:spcPts val="0"/>
                        </a:spcAft>
                        <a:buNone/>
                      </a:pPr>
                      <a:r>
                        <a:rPr lang="en"/>
                        <a:t>Num Inc Cat: -0.002</a:t>
                      </a:r>
                      <a:endParaRPr/>
                    </a:p>
                  </a:txBody>
                  <a:tcPr marT="91425" marB="91425" marR="91425" marL="91425"/>
                </a:tc>
                <a:tc>
                  <a:txBody>
                    <a:bodyPr/>
                    <a:lstStyle/>
                    <a:p>
                      <a:pPr indent="0" lvl="0" marL="0" rtl="0" algn="l">
                        <a:spcBef>
                          <a:spcPts val="0"/>
                        </a:spcBef>
                        <a:spcAft>
                          <a:spcPts val="0"/>
                        </a:spcAft>
                        <a:buNone/>
                      </a:pPr>
                      <a:r>
                        <a:rPr lang="en"/>
                        <a:t>0.0193</a:t>
                      </a:r>
                      <a:endParaRPr/>
                    </a:p>
                  </a:txBody>
                  <a:tcPr marT="91425" marB="91425" marR="91425" marL="91425"/>
                </a:tc>
              </a:tr>
              <a:tr h="375300">
                <a:tc>
                  <a:txBody>
                    <a:bodyPr/>
                    <a:lstStyle/>
                    <a:p>
                      <a:pPr indent="0" lvl="0" marL="0" rtl="0" algn="l">
                        <a:spcBef>
                          <a:spcPts val="0"/>
                        </a:spcBef>
                        <a:spcAft>
                          <a:spcPts val="0"/>
                        </a:spcAft>
                        <a:buNone/>
                      </a:pPr>
                      <a:r>
                        <a:rPr lang="en"/>
                        <a:t>Age: -0.009</a:t>
                      </a:r>
                      <a:endParaRPr/>
                    </a:p>
                  </a:txBody>
                  <a:tcPr marT="91425" marB="91425" marR="91425" marL="91425"/>
                </a:tc>
                <a:tc>
                  <a:txBody>
                    <a:bodyPr/>
                    <a:lstStyle/>
                    <a:p>
                      <a:pPr indent="0" lvl="0" marL="0" rtl="0" algn="l">
                        <a:spcBef>
                          <a:spcPts val="0"/>
                        </a:spcBef>
                        <a:spcAft>
                          <a:spcPts val="0"/>
                        </a:spcAft>
                        <a:buNone/>
                      </a:pPr>
                      <a:r>
                        <a:rPr lang="en"/>
                        <a:t>1.48*10^-5</a:t>
                      </a:r>
                      <a:endParaRPr/>
                    </a:p>
                  </a:txBody>
                  <a:tcPr marT="91425" marB="91425" marR="91425" marL="91425"/>
                </a:tc>
              </a:tr>
              <a:tr h="375300">
                <a:tc>
                  <a:txBody>
                    <a:bodyPr/>
                    <a:lstStyle/>
                    <a:p>
                      <a:pPr indent="0" lvl="0" marL="0" rtl="0" algn="l">
                        <a:spcBef>
                          <a:spcPts val="0"/>
                        </a:spcBef>
                        <a:spcAft>
                          <a:spcPts val="0"/>
                        </a:spcAft>
                        <a:buNone/>
                      </a:pPr>
                      <a:r>
                        <a:rPr lang="en"/>
                        <a:t>5- lvl Educ.: 0.007</a:t>
                      </a:r>
                      <a:endParaRPr/>
                    </a:p>
                  </a:txBody>
                  <a:tcPr marT="91425" marB="91425" marR="91425" marL="91425"/>
                </a:tc>
                <a:tc>
                  <a:txBody>
                    <a:bodyPr/>
                    <a:lstStyle/>
                    <a:p>
                      <a:pPr indent="0" lvl="0" marL="0" rtl="0" algn="l">
                        <a:spcBef>
                          <a:spcPts val="0"/>
                        </a:spcBef>
                        <a:spcAft>
                          <a:spcPts val="0"/>
                        </a:spcAft>
                        <a:buNone/>
                      </a:pPr>
                      <a:r>
                        <a:rPr lang="en"/>
                        <a:t>0.121</a:t>
                      </a:r>
                      <a:endParaRPr/>
                    </a:p>
                  </a:txBody>
                  <a:tcPr marT="91425" marB="91425" marR="91425" marL="91425"/>
                </a:tc>
              </a:tr>
              <a:tr h="577400">
                <a:tc>
                  <a:txBody>
                    <a:bodyPr/>
                    <a:lstStyle/>
                    <a:p>
                      <a:pPr indent="0" lvl="0" marL="0" rtl="0" algn="l">
                        <a:spcBef>
                          <a:spcPts val="0"/>
                        </a:spcBef>
                        <a:spcAft>
                          <a:spcPts val="0"/>
                        </a:spcAft>
                        <a:buNone/>
                      </a:pPr>
                      <a:r>
                        <a:rPr lang="en"/>
                        <a:t>7-pt. Ideology: -0.214</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 </a:t>
            </a:r>
            <a:endParaRPr/>
          </a:p>
        </p:txBody>
      </p:sp>
      <p:sp>
        <p:nvSpPr>
          <p:cNvPr id="103" name="Google Shape;103;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Continue working on our final report </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Do the results feel intuitive, or are any findings surprising/confusing?</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What would make the conclusions more compelling or actionable?</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