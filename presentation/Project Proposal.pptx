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Lst>
  <p:sldSz cy="5143500" cx="9144000"/>
  <p:notesSz cx="6858000" cy="9144000"/>
  <p:embeddedFontLst>
    <p:embeddedFont>
      <p:font typeface="PT Sans Narrow"/>
      <p:regular r:id="rId10"/>
      <p:bold r:id="rId11"/>
    </p:embeddedFont>
    <p:embeddedFont>
      <p:font typeface="Open Sans"/>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PTSansNarrow-bold.fntdata"/><Relationship Id="rId10" Type="http://schemas.openxmlformats.org/officeDocument/2006/relationships/font" Target="fonts/PTSansNarrow-regular.fntdata"/><Relationship Id="rId13" Type="http://schemas.openxmlformats.org/officeDocument/2006/relationships/font" Target="fonts/OpenSans-bold.fntdata"/><Relationship Id="rId12" Type="http://schemas.openxmlformats.org/officeDocument/2006/relationships/font" Target="fonts/OpenSans-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OpenSans-boldItalic.fntdata"/><Relationship Id="rId14" Type="http://schemas.openxmlformats.org/officeDocument/2006/relationships/font" Target="fonts/OpenSans-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a005f7df5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a005f7df5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a005f7df5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a005f7df5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a005f7df51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a005f7df5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p2"/>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p2"/>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p2"/>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p2"/>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9" name="Google Shape;19;p2"/>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 name="Google Shape;20;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p:txBody>
      </p:sp>
      <p:sp>
        <p:nvSpPr>
          <p:cNvPr id="24" name="Google Shape;24;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28" name="Google Shape;28;p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2" name="Google Shape;32;p5"/>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5"/>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6"/>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7" name="Google Shape;3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2" name="Shape 42"/>
        <p:cNvGrpSpPr/>
        <p:nvPr/>
      </p:nvGrpSpPr>
      <p:grpSpPr>
        <a:xfrm>
          <a:off x="0" y="0"/>
          <a:ext cx="0" cy="0"/>
          <a:chOff x="0" y="0"/>
          <a:chExt cx="0" cy="0"/>
        </a:xfrm>
      </p:grpSpPr>
      <p:sp>
        <p:nvSpPr>
          <p:cNvPr id="43" name="Google Shape;43;p8"/>
          <p:cNvSpPr txBox="1"/>
          <p:nvPr>
            <p:ph type="title"/>
          </p:nvPr>
        </p:nvSpPr>
        <p:spPr>
          <a:xfrm>
            <a:off x="490250" y="526350"/>
            <a:ext cx="56136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2"/>
              </a:buClr>
              <a:buSzPts val="5400"/>
              <a:buNone/>
              <a:defRPr b="0" sz="5400">
                <a:solidFill>
                  <a:schemeClr val="dk2"/>
                </a:solidFill>
              </a:defRPr>
            </a:lvl1pPr>
            <a:lvl2pPr lvl="1">
              <a:spcBef>
                <a:spcPts val="0"/>
              </a:spcBef>
              <a:spcAft>
                <a:spcPts val="0"/>
              </a:spcAft>
              <a:buClr>
                <a:schemeClr val="dk2"/>
              </a:buClr>
              <a:buSzPts val="5400"/>
              <a:buNone/>
              <a:defRPr b="0" sz="5400">
                <a:solidFill>
                  <a:schemeClr val="dk2"/>
                </a:solidFill>
              </a:defRPr>
            </a:lvl2pPr>
            <a:lvl3pPr lvl="2">
              <a:spcBef>
                <a:spcPts val="0"/>
              </a:spcBef>
              <a:spcAft>
                <a:spcPts val="0"/>
              </a:spcAft>
              <a:buClr>
                <a:schemeClr val="dk2"/>
              </a:buClr>
              <a:buSzPts val="5400"/>
              <a:buNone/>
              <a:defRPr b="0" sz="5400">
                <a:solidFill>
                  <a:schemeClr val="dk2"/>
                </a:solidFill>
              </a:defRPr>
            </a:lvl3pPr>
            <a:lvl4pPr lvl="3">
              <a:spcBef>
                <a:spcPts val="0"/>
              </a:spcBef>
              <a:spcAft>
                <a:spcPts val="0"/>
              </a:spcAft>
              <a:buClr>
                <a:schemeClr val="dk2"/>
              </a:buClr>
              <a:buSzPts val="5400"/>
              <a:buNone/>
              <a:defRPr b="0" sz="5400">
                <a:solidFill>
                  <a:schemeClr val="dk2"/>
                </a:solidFill>
              </a:defRPr>
            </a:lvl4pPr>
            <a:lvl5pPr lvl="4">
              <a:spcBef>
                <a:spcPts val="0"/>
              </a:spcBef>
              <a:spcAft>
                <a:spcPts val="0"/>
              </a:spcAft>
              <a:buClr>
                <a:schemeClr val="dk2"/>
              </a:buClr>
              <a:buSzPts val="5400"/>
              <a:buNone/>
              <a:defRPr b="0" sz="5400">
                <a:solidFill>
                  <a:schemeClr val="dk2"/>
                </a:solidFill>
              </a:defRPr>
            </a:lvl5pPr>
            <a:lvl6pPr lvl="5">
              <a:spcBef>
                <a:spcPts val="0"/>
              </a:spcBef>
              <a:spcAft>
                <a:spcPts val="0"/>
              </a:spcAft>
              <a:buClr>
                <a:schemeClr val="dk2"/>
              </a:buClr>
              <a:buSzPts val="5400"/>
              <a:buNone/>
              <a:defRPr b="0" sz="5400">
                <a:solidFill>
                  <a:schemeClr val="dk2"/>
                </a:solidFill>
              </a:defRPr>
            </a:lvl6pPr>
            <a:lvl7pPr lvl="6">
              <a:spcBef>
                <a:spcPts val="0"/>
              </a:spcBef>
              <a:spcAft>
                <a:spcPts val="0"/>
              </a:spcAft>
              <a:buClr>
                <a:schemeClr val="dk2"/>
              </a:buClr>
              <a:buSzPts val="5400"/>
              <a:buNone/>
              <a:defRPr b="0" sz="5400">
                <a:solidFill>
                  <a:schemeClr val="dk2"/>
                </a:solidFill>
              </a:defRPr>
            </a:lvl7pPr>
            <a:lvl8pPr lvl="7">
              <a:spcBef>
                <a:spcPts val="0"/>
              </a:spcBef>
              <a:spcAft>
                <a:spcPts val="0"/>
              </a:spcAft>
              <a:buClr>
                <a:schemeClr val="dk2"/>
              </a:buClr>
              <a:buSzPts val="5400"/>
              <a:buNone/>
              <a:defRPr b="0" sz="5400">
                <a:solidFill>
                  <a:schemeClr val="dk2"/>
                </a:solidFill>
              </a:defRPr>
            </a:lvl8pPr>
            <a:lvl9pPr lvl="8">
              <a:spcBef>
                <a:spcPts val="0"/>
              </a:spcBef>
              <a:spcAft>
                <a:spcPts val="0"/>
              </a:spcAft>
              <a:buClr>
                <a:schemeClr val="dk2"/>
              </a:buClr>
              <a:buSzPts val="5400"/>
              <a:buNone/>
              <a:defRPr b="0" sz="5400">
                <a:solidFill>
                  <a:schemeClr val="dk2"/>
                </a:solidFill>
              </a:defRPr>
            </a:lvl9pPr>
          </a:lstStyle>
          <a:p/>
        </p:txBody>
      </p:sp>
      <p:sp>
        <p:nvSpPr>
          <p:cNvPr id="44" name="Google Shape;4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 name="Google Shape;47;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8" name="Google Shape;48;p9"/>
          <p:cNvSpPr txBox="1"/>
          <p:nvPr>
            <p:ph type="title"/>
          </p:nvPr>
        </p:nvSpPr>
        <p:spPr>
          <a:xfrm>
            <a:off x="265500" y="1039675"/>
            <a:ext cx="4045200" cy="16758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9" name="Google Shape;49;p9"/>
          <p:cNvSpPr txBox="1"/>
          <p:nvPr>
            <p:ph idx="1" type="subTitle"/>
          </p:nvPr>
        </p:nvSpPr>
        <p:spPr>
          <a:xfrm>
            <a:off x="265500" y="27268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ph idx="1" type="body"/>
          </p:nvPr>
        </p:nvSpPr>
        <p:spPr>
          <a:xfrm>
            <a:off x="311700" y="4230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54" name="Google Shape;5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1"/>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p:nvPr>
            <p:ph idx="1" type="body"/>
          </p:nvPr>
        </p:nvSpPr>
        <p:spPr>
          <a:xfrm>
            <a:off x="311700" y="29956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9" name="Google Shape;5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7" name="Google Shape;7;p1"/>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3"/>
          <p:cNvSpPr txBox="1"/>
          <p:nvPr>
            <p:ph type="ctrTitle"/>
          </p:nvPr>
        </p:nvSpPr>
        <p:spPr>
          <a:xfrm>
            <a:off x="1004150" y="1751775"/>
            <a:ext cx="7359900" cy="1022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3959"/>
              <a:t>Gender, Race, &amp; Income:                     Influence on Political A</a:t>
            </a:r>
            <a:r>
              <a:rPr lang="en" sz="3959"/>
              <a:t>ffiliation</a:t>
            </a:r>
            <a:endParaRPr sz="3459"/>
          </a:p>
        </p:txBody>
      </p:sp>
      <p:sp>
        <p:nvSpPr>
          <p:cNvPr id="67" name="Google Shape;67;p13"/>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Virthiha S., Cordelia T., Dylan H.</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a:t>
            </a:r>
            <a:endParaRPr/>
          </a:p>
        </p:txBody>
      </p:sp>
      <p:sp>
        <p:nvSpPr>
          <p:cNvPr id="73" name="Google Shape;73;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300">
                <a:solidFill>
                  <a:srgbClr val="000000"/>
                </a:solidFill>
                <a:latin typeface="Arial"/>
                <a:ea typeface="Arial"/>
                <a:cs typeface="Arial"/>
                <a:sym typeface="Arial"/>
              </a:rPr>
              <a:t>Subject</a:t>
            </a:r>
            <a:r>
              <a:rPr lang="en" sz="1300">
                <a:solidFill>
                  <a:srgbClr val="000000"/>
                </a:solidFill>
                <a:latin typeface="Arial"/>
                <a:ea typeface="Arial"/>
                <a:cs typeface="Arial"/>
                <a:sym typeface="Arial"/>
              </a:rPr>
              <a:t>:</a:t>
            </a:r>
            <a:br>
              <a:rPr lang="en" sz="1300">
                <a:solidFill>
                  <a:srgbClr val="000000"/>
                </a:solidFill>
                <a:latin typeface="Arial"/>
                <a:ea typeface="Arial"/>
                <a:cs typeface="Arial"/>
                <a:sym typeface="Arial"/>
              </a:rPr>
            </a:br>
            <a:r>
              <a:rPr lang="en" sz="1300">
                <a:solidFill>
                  <a:srgbClr val="000000"/>
                </a:solidFill>
                <a:latin typeface="Arial"/>
                <a:ea typeface="Arial"/>
                <a:cs typeface="Arial"/>
                <a:sym typeface="Arial"/>
              </a:rPr>
              <a:t>This research examines the role of demographic factors, specifically gender, race, and income, in shaping political affiliation in the United States. The focus is on understanding how various factors influence whether individuals identify as Democrats or Republicans, in the context of our country’s growing political polarization.</a:t>
            </a:r>
            <a:endParaRPr sz="1300">
              <a:solidFill>
                <a:srgbClr val="000000"/>
              </a:solidFill>
              <a:latin typeface="Arial"/>
              <a:ea typeface="Arial"/>
              <a:cs typeface="Arial"/>
              <a:sym typeface="Arial"/>
            </a:endParaRPr>
          </a:p>
          <a:p>
            <a:pPr indent="0" lvl="0" marL="0" rtl="0" algn="l">
              <a:spcBef>
                <a:spcPts val="1200"/>
              </a:spcBef>
              <a:spcAft>
                <a:spcPts val="0"/>
              </a:spcAft>
              <a:buNone/>
            </a:pPr>
            <a:r>
              <a:rPr b="1" lang="en" sz="1300">
                <a:solidFill>
                  <a:srgbClr val="000000"/>
                </a:solidFill>
                <a:latin typeface="Arial"/>
                <a:ea typeface="Arial"/>
                <a:cs typeface="Arial"/>
                <a:sym typeface="Arial"/>
              </a:rPr>
              <a:t>Motivation</a:t>
            </a:r>
            <a:r>
              <a:rPr lang="en" sz="1300">
                <a:solidFill>
                  <a:srgbClr val="000000"/>
                </a:solidFill>
                <a:latin typeface="Arial"/>
                <a:ea typeface="Arial"/>
                <a:cs typeface="Arial"/>
                <a:sym typeface="Arial"/>
              </a:rPr>
              <a:t>:</a:t>
            </a:r>
            <a:br>
              <a:rPr lang="en" sz="1300">
                <a:solidFill>
                  <a:srgbClr val="000000"/>
                </a:solidFill>
                <a:latin typeface="Arial"/>
                <a:ea typeface="Arial"/>
                <a:cs typeface="Arial"/>
                <a:sym typeface="Arial"/>
              </a:rPr>
            </a:br>
            <a:r>
              <a:rPr lang="en" sz="1300">
                <a:solidFill>
                  <a:srgbClr val="000000"/>
                </a:solidFill>
                <a:latin typeface="Arial"/>
                <a:ea typeface="Arial"/>
                <a:cs typeface="Arial"/>
                <a:sym typeface="Arial"/>
              </a:rPr>
              <a:t>As political divisions in the U.S. intensify, it is essential to explore the underlying demographic influences on political affiliation. Understanding how gender, race, and income shape political identity, voting behaviors, and party loyalty can offer insights that are crucial for predicting future voting patterns, informing political campaigns, and guiding policy decisions. </a:t>
            </a:r>
            <a:endParaRPr sz="1300">
              <a:solidFill>
                <a:srgbClr val="000000"/>
              </a:solidFill>
              <a:latin typeface="Arial"/>
              <a:ea typeface="Arial"/>
              <a:cs typeface="Arial"/>
              <a:sym typeface="Arial"/>
            </a:endParaRPr>
          </a:p>
          <a:p>
            <a:pPr indent="0" lvl="0" marL="0" rtl="0" algn="l">
              <a:spcBef>
                <a:spcPts val="1200"/>
              </a:spcBef>
              <a:spcAft>
                <a:spcPts val="0"/>
              </a:spcAft>
              <a:buNone/>
            </a:pPr>
            <a:r>
              <a:rPr b="1" lang="en" sz="1300">
                <a:solidFill>
                  <a:srgbClr val="000000"/>
                </a:solidFill>
                <a:latin typeface="Arial"/>
                <a:ea typeface="Arial"/>
                <a:cs typeface="Arial"/>
                <a:sym typeface="Arial"/>
              </a:rPr>
              <a:t>Research Question</a:t>
            </a:r>
            <a:r>
              <a:rPr lang="en" sz="1300">
                <a:solidFill>
                  <a:srgbClr val="000000"/>
                </a:solidFill>
                <a:latin typeface="Arial"/>
                <a:ea typeface="Arial"/>
                <a:cs typeface="Arial"/>
                <a:sym typeface="Arial"/>
              </a:rPr>
              <a:t>:</a:t>
            </a:r>
            <a:br>
              <a:rPr lang="en" sz="1300">
                <a:solidFill>
                  <a:srgbClr val="000000"/>
                </a:solidFill>
                <a:latin typeface="Arial"/>
                <a:ea typeface="Arial"/>
                <a:cs typeface="Arial"/>
                <a:sym typeface="Arial"/>
              </a:rPr>
            </a:br>
            <a:r>
              <a:rPr lang="en" sz="1300">
                <a:solidFill>
                  <a:srgbClr val="000000"/>
                </a:solidFill>
                <a:latin typeface="Arial"/>
                <a:ea typeface="Arial"/>
                <a:cs typeface="Arial"/>
                <a:sym typeface="Arial"/>
              </a:rPr>
              <a:t>How do gender, race, and income influence political affiliation (Democrat vs. Republican) in the United States?</a:t>
            </a:r>
            <a:endParaRPr sz="1300">
              <a:solidFill>
                <a:srgbClr val="000000"/>
              </a:solidFill>
              <a:latin typeface="Arial"/>
              <a:ea typeface="Arial"/>
              <a:cs typeface="Arial"/>
              <a:sym typeface="Arial"/>
            </a:endParaRPr>
          </a:p>
          <a:p>
            <a:pPr indent="0" lvl="0" marL="0" rtl="0" algn="l">
              <a:spcBef>
                <a:spcPts val="1200"/>
              </a:spcBef>
              <a:spcAft>
                <a:spcPts val="0"/>
              </a:spcAft>
              <a:buNone/>
            </a:pPr>
            <a:r>
              <a:t/>
            </a:r>
            <a:endParaRPr sz="2000"/>
          </a:p>
          <a:p>
            <a:pPr indent="0" lvl="0" marL="0" rtl="0" algn="l">
              <a:spcBef>
                <a:spcPts val="0"/>
              </a:spcBef>
              <a:spcAft>
                <a:spcPts val="1200"/>
              </a:spcAft>
              <a:buNone/>
            </a:pPr>
            <a:r>
              <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5"/>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a:t>
            </a:r>
            <a:endParaRPr/>
          </a:p>
        </p:txBody>
      </p:sp>
      <p:sp>
        <p:nvSpPr>
          <p:cNvPr id="79" name="Google Shape;79;p15"/>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688"/>
              <a:buNone/>
            </a:pPr>
            <a:r>
              <a:rPr b="1" lang="en" sz="1212">
                <a:solidFill>
                  <a:srgbClr val="343A40"/>
                </a:solidFill>
                <a:latin typeface="Arial"/>
                <a:ea typeface="Arial"/>
                <a:cs typeface="Arial"/>
                <a:sym typeface="Arial"/>
              </a:rPr>
              <a:t>Data Set Overview: </a:t>
            </a:r>
            <a:endParaRPr sz="1412">
              <a:solidFill>
                <a:srgbClr val="343A40"/>
              </a:solidFill>
              <a:latin typeface="Arial"/>
              <a:ea typeface="Arial"/>
              <a:cs typeface="Arial"/>
              <a:sym typeface="Arial"/>
            </a:endParaRPr>
          </a:p>
          <a:p>
            <a:pPr indent="0" lvl="0" marL="0" rtl="0" algn="l">
              <a:lnSpc>
                <a:spcPct val="95000"/>
              </a:lnSpc>
              <a:spcBef>
                <a:spcPts val="0"/>
              </a:spcBef>
              <a:spcAft>
                <a:spcPts val="0"/>
              </a:spcAft>
              <a:buSzPts val="688"/>
              <a:buNone/>
            </a:pPr>
            <a:r>
              <a:rPr b="1" lang="en" sz="1212">
                <a:solidFill>
                  <a:srgbClr val="343A40"/>
                </a:solidFill>
                <a:latin typeface="Arial"/>
                <a:ea typeface="Arial"/>
                <a:cs typeface="Arial"/>
                <a:sym typeface="Arial"/>
              </a:rPr>
              <a:t>National Election Studies (NES) Data</a:t>
            </a:r>
            <a:r>
              <a:rPr lang="en" sz="1212">
                <a:solidFill>
                  <a:srgbClr val="343A40"/>
                </a:solidFill>
                <a:latin typeface="Arial"/>
                <a:ea typeface="Arial"/>
                <a:cs typeface="Arial"/>
                <a:sym typeface="Arial"/>
              </a:rPr>
              <a:t> - provides detailed demographic information (gender, race, income) along with political affiliation data, </a:t>
            </a:r>
            <a:endParaRPr sz="1212">
              <a:solidFill>
                <a:srgbClr val="343A40"/>
              </a:solidFill>
              <a:latin typeface="Arial"/>
              <a:ea typeface="Arial"/>
              <a:cs typeface="Arial"/>
              <a:sym typeface="Arial"/>
            </a:endParaRPr>
          </a:p>
          <a:p>
            <a:pPr indent="0" lvl="0" marL="0" rtl="0" algn="l">
              <a:lnSpc>
                <a:spcPct val="95000"/>
              </a:lnSpc>
              <a:spcBef>
                <a:spcPts val="0"/>
              </a:spcBef>
              <a:spcAft>
                <a:spcPts val="0"/>
              </a:spcAft>
              <a:buSzPts val="688"/>
              <a:buNone/>
            </a:pPr>
            <a:r>
              <a:rPr b="1" lang="en" sz="1212">
                <a:solidFill>
                  <a:srgbClr val="343A40"/>
                </a:solidFill>
                <a:latin typeface="Arial"/>
                <a:ea typeface="Arial"/>
                <a:cs typeface="Arial"/>
                <a:sym typeface="Arial"/>
              </a:rPr>
              <a:t>Census Data (American Community Survey)</a:t>
            </a:r>
            <a:r>
              <a:rPr lang="en" sz="1212">
                <a:solidFill>
                  <a:srgbClr val="343A40"/>
                </a:solidFill>
                <a:latin typeface="Arial"/>
                <a:ea typeface="Arial"/>
                <a:cs typeface="Arial"/>
                <a:sym typeface="Arial"/>
              </a:rPr>
              <a:t> - offers demographic data, including race, gender, income, - can help identify broader population trends</a:t>
            </a:r>
            <a:endParaRPr sz="1212">
              <a:solidFill>
                <a:srgbClr val="343A40"/>
              </a:solidFill>
              <a:latin typeface="Arial"/>
              <a:ea typeface="Arial"/>
              <a:cs typeface="Arial"/>
              <a:sym typeface="Arial"/>
            </a:endParaRPr>
          </a:p>
          <a:p>
            <a:pPr indent="0" lvl="0" marL="0" rtl="0" algn="l">
              <a:lnSpc>
                <a:spcPct val="95000"/>
              </a:lnSpc>
              <a:spcBef>
                <a:spcPts val="0"/>
              </a:spcBef>
              <a:spcAft>
                <a:spcPts val="0"/>
              </a:spcAft>
              <a:buSzPts val="688"/>
              <a:buNone/>
            </a:pPr>
            <a:r>
              <a:rPr b="1" lang="en" sz="1212">
                <a:solidFill>
                  <a:srgbClr val="343A40"/>
                </a:solidFill>
                <a:latin typeface="Arial"/>
                <a:ea typeface="Arial"/>
                <a:cs typeface="Arial"/>
                <a:sym typeface="Arial"/>
              </a:rPr>
              <a:t>Pew Research Center Survey</a:t>
            </a:r>
            <a:r>
              <a:rPr lang="en" sz="1212">
                <a:solidFill>
                  <a:srgbClr val="343A40"/>
                </a:solidFill>
                <a:latin typeface="Arial"/>
                <a:ea typeface="Arial"/>
                <a:cs typeface="Arial"/>
                <a:sym typeface="Arial"/>
              </a:rPr>
              <a:t> - Pew conducts regular political surveys that include demographic factors and political preferences, providing valuable insights into how socio-economic factors influence party identification. </a:t>
            </a:r>
            <a:endParaRPr sz="1212">
              <a:solidFill>
                <a:srgbClr val="343A40"/>
              </a:solidFill>
              <a:latin typeface="Arial"/>
              <a:ea typeface="Arial"/>
              <a:cs typeface="Arial"/>
              <a:sym typeface="Arial"/>
            </a:endParaRPr>
          </a:p>
          <a:p>
            <a:pPr indent="0" lvl="0" marL="0" rtl="0" algn="l">
              <a:lnSpc>
                <a:spcPct val="95000"/>
              </a:lnSpc>
              <a:spcBef>
                <a:spcPts val="0"/>
              </a:spcBef>
              <a:spcAft>
                <a:spcPts val="0"/>
              </a:spcAft>
              <a:buSzPts val="688"/>
              <a:buNone/>
            </a:pPr>
            <a:r>
              <a:rPr b="1" lang="en" sz="1212">
                <a:solidFill>
                  <a:srgbClr val="343A40"/>
                </a:solidFill>
                <a:latin typeface="Arial"/>
                <a:ea typeface="Arial"/>
                <a:cs typeface="Arial"/>
                <a:sym typeface="Arial"/>
              </a:rPr>
              <a:t>Exit Polls Data</a:t>
            </a:r>
            <a:r>
              <a:rPr lang="en" sz="1212">
                <a:solidFill>
                  <a:srgbClr val="343A40"/>
                </a:solidFill>
                <a:latin typeface="Arial"/>
                <a:ea typeface="Arial"/>
                <a:cs typeface="Arial"/>
                <a:sym typeface="Arial"/>
              </a:rPr>
              <a:t> - from national elections reveal voting patterns across different demographic groups </a:t>
            </a:r>
            <a:endParaRPr sz="1212">
              <a:solidFill>
                <a:srgbClr val="343A40"/>
              </a:solidFill>
              <a:latin typeface="Arial"/>
              <a:ea typeface="Arial"/>
              <a:cs typeface="Arial"/>
              <a:sym typeface="Arial"/>
            </a:endParaRPr>
          </a:p>
          <a:p>
            <a:pPr indent="0" lvl="0" marL="0" rtl="0" algn="l">
              <a:lnSpc>
                <a:spcPct val="95000"/>
              </a:lnSpc>
              <a:spcBef>
                <a:spcPts val="0"/>
              </a:spcBef>
              <a:spcAft>
                <a:spcPts val="0"/>
              </a:spcAft>
              <a:buSzPts val="688"/>
              <a:buNone/>
            </a:pPr>
            <a:r>
              <a:rPr b="1" lang="en" sz="1212">
                <a:solidFill>
                  <a:srgbClr val="343A40"/>
                </a:solidFill>
                <a:latin typeface="Arial"/>
                <a:ea typeface="Arial"/>
                <a:cs typeface="Arial"/>
                <a:sym typeface="Arial"/>
              </a:rPr>
              <a:t>State-Specific Surveys</a:t>
            </a:r>
            <a:r>
              <a:rPr lang="en" sz="1212">
                <a:solidFill>
                  <a:srgbClr val="343A40"/>
                </a:solidFill>
                <a:latin typeface="Arial"/>
                <a:ea typeface="Arial"/>
                <a:cs typeface="Arial"/>
                <a:sym typeface="Arial"/>
              </a:rPr>
              <a:t> - regional surveys = localized data </a:t>
            </a:r>
            <a:endParaRPr sz="1212">
              <a:solidFill>
                <a:srgbClr val="343A40"/>
              </a:solidFill>
              <a:latin typeface="Arial"/>
              <a:ea typeface="Arial"/>
              <a:cs typeface="Arial"/>
              <a:sym typeface="Arial"/>
            </a:endParaRPr>
          </a:p>
          <a:p>
            <a:pPr indent="0" lvl="0" marL="0" rtl="0" algn="l">
              <a:lnSpc>
                <a:spcPct val="95000"/>
              </a:lnSpc>
              <a:spcBef>
                <a:spcPts val="0"/>
              </a:spcBef>
              <a:spcAft>
                <a:spcPts val="0"/>
              </a:spcAft>
              <a:buSzPts val="688"/>
              <a:buNone/>
            </a:pPr>
            <a:r>
              <a:t/>
            </a:r>
            <a:endParaRPr sz="1212">
              <a:solidFill>
                <a:srgbClr val="343A40"/>
              </a:solidFill>
              <a:latin typeface="Arial"/>
              <a:ea typeface="Arial"/>
              <a:cs typeface="Arial"/>
              <a:sym typeface="Arial"/>
            </a:endParaRPr>
          </a:p>
          <a:p>
            <a:pPr indent="0" lvl="0" marL="0" rtl="0" algn="l">
              <a:lnSpc>
                <a:spcPct val="95000"/>
              </a:lnSpc>
              <a:spcBef>
                <a:spcPts val="0"/>
              </a:spcBef>
              <a:spcAft>
                <a:spcPts val="0"/>
              </a:spcAft>
              <a:buSzPts val="688"/>
              <a:buNone/>
            </a:pPr>
            <a:r>
              <a:t/>
            </a:r>
            <a:endParaRPr sz="1212">
              <a:solidFill>
                <a:srgbClr val="343A40"/>
              </a:solidFill>
              <a:latin typeface="Arial"/>
              <a:ea typeface="Arial"/>
              <a:cs typeface="Arial"/>
              <a:sym typeface="Arial"/>
            </a:endParaRPr>
          </a:p>
          <a:p>
            <a:pPr indent="0" lvl="0" marL="0" rtl="0" algn="l">
              <a:lnSpc>
                <a:spcPct val="95000"/>
              </a:lnSpc>
              <a:spcBef>
                <a:spcPts val="0"/>
              </a:spcBef>
              <a:spcAft>
                <a:spcPts val="0"/>
              </a:spcAft>
              <a:buSzPts val="688"/>
              <a:buNone/>
            </a:pPr>
            <a:r>
              <a:rPr b="1" lang="en" sz="1212">
                <a:solidFill>
                  <a:srgbClr val="343A40"/>
                </a:solidFill>
                <a:latin typeface="Arial"/>
                <a:ea typeface="Arial"/>
                <a:cs typeface="Arial"/>
                <a:sym typeface="Arial"/>
              </a:rPr>
              <a:t>Data processing via:</a:t>
            </a:r>
            <a:endParaRPr b="1" sz="1212">
              <a:solidFill>
                <a:srgbClr val="343A40"/>
              </a:solidFill>
              <a:latin typeface="Arial"/>
              <a:ea typeface="Arial"/>
              <a:cs typeface="Arial"/>
              <a:sym typeface="Arial"/>
            </a:endParaRPr>
          </a:p>
          <a:p>
            <a:pPr indent="0" lvl="0" marL="0" rtl="0" algn="l">
              <a:lnSpc>
                <a:spcPct val="95000"/>
              </a:lnSpc>
              <a:spcBef>
                <a:spcPts val="0"/>
              </a:spcBef>
              <a:spcAft>
                <a:spcPts val="0"/>
              </a:spcAft>
              <a:buSzPts val="688"/>
              <a:buNone/>
            </a:pPr>
            <a:r>
              <a:rPr b="1" lang="en" sz="1212">
                <a:solidFill>
                  <a:srgbClr val="343A40"/>
                </a:solidFill>
                <a:latin typeface="Arial"/>
                <a:ea typeface="Arial"/>
                <a:cs typeface="Arial"/>
                <a:sym typeface="Arial"/>
              </a:rPr>
              <a:t>Data Cleaning</a:t>
            </a:r>
            <a:r>
              <a:rPr lang="en" sz="1212">
                <a:solidFill>
                  <a:srgbClr val="343A40"/>
                </a:solidFill>
                <a:latin typeface="Arial"/>
                <a:ea typeface="Arial"/>
                <a:cs typeface="Arial"/>
                <a:sym typeface="Arial"/>
              </a:rPr>
              <a:t> - Removing any incomplete or inconsistent data, ensuring accuracy and reliability.</a:t>
            </a:r>
            <a:endParaRPr sz="1212">
              <a:solidFill>
                <a:srgbClr val="343A40"/>
              </a:solidFill>
              <a:latin typeface="Arial"/>
              <a:ea typeface="Arial"/>
              <a:cs typeface="Arial"/>
              <a:sym typeface="Arial"/>
            </a:endParaRPr>
          </a:p>
          <a:p>
            <a:pPr indent="0" lvl="0" marL="0" rtl="0" algn="l">
              <a:lnSpc>
                <a:spcPct val="95000"/>
              </a:lnSpc>
              <a:spcBef>
                <a:spcPts val="0"/>
              </a:spcBef>
              <a:spcAft>
                <a:spcPts val="0"/>
              </a:spcAft>
              <a:buSzPts val="688"/>
              <a:buNone/>
            </a:pPr>
            <a:r>
              <a:rPr b="1" lang="en" sz="1212">
                <a:solidFill>
                  <a:srgbClr val="343A40"/>
                </a:solidFill>
                <a:latin typeface="Arial"/>
                <a:ea typeface="Arial"/>
                <a:cs typeface="Arial"/>
                <a:sym typeface="Arial"/>
              </a:rPr>
              <a:t>Variable Transformation</a:t>
            </a:r>
            <a:r>
              <a:rPr lang="en" sz="1212">
                <a:solidFill>
                  <a:srgbClr val="343A40"/>
                </a:solidFill>
                <a:latin typeface="Arial"/>
                <a:ea typeface="Arial"/>
                <a:cs typeface="Arial"/>
                <a:sym typeface="Arial"/>
              </a:rPr>
              <a:t> -  Categorizing continuous variables (income) into meaningful groups for easier comparison (like low, medium, high income levels).</a:t>
            </a:r>
            <a:endParaRPr sz="1212">
              <a:solidFill>
                <a:srgbClr val="343A40"/>
              </a:solidFill>
              <a:latin typeface="Arial"/>
              <a:ea typeface="Arial"/>
              <a:cs typeface="Arial"/>
              <a:sym typeface="Arial"/>
            </a:endParaRPr>
          </a:p>
          <a:p>
            <a:pPr indent="0" lvl="0" marL="0" rtl="0" algn="l">
              <a:lnSpc>
                <a:spcPct val="95000"/>
              </a:lnSpc>
              <a:spcBef>
                <a:spcPts val="0"/>
              </a:spcBef>
              <a:spcAft>
                <a:spcPts val="0"/>
              </a:spcAft>
              <a:buSzPts val="688"/>
              <a:buNone/>
            </a:pPr>
            <a:r>
              <a:rPr b="1" lang="en" sz="1212">
                <a:solidFill>
                  <a:srgbClr val="343A40"/>
                </a:solidFill>
                <a:latin typeface="Arial"/>
                <a:ea typeface="Arial"/>
                <a:cs typeface="Arial"/>
                <a:sym typeface="Arial"/>
              </a:rPr>
              <a:t>Data Integration</a:t>
            </a:r>
            <a:r>
              <a:rPr lang="en" sz="1212">
                <a:solidFill>
                  <a:srgbClr val="343A40"/>
                </a:solidFill>
                <a:latin typeface="Arial"/>
                <a:ea typeface="Arial"/>
                <a:cs typeface="Arial"/>
                <a:sym typeface="Arial"/>
              </a:rPr>
              <a:t> - Combining data from multiple sources (NES, Census, Pew) into a unified dataset for analysis</a:t>
            </a:r>
            <a:endParaRPr sz="1212">
              <a:solidFill>
                <a:srgbClr val="343A40"/>
              </a:solidFill>
              <a:latin typeface="Arial"/>
              <a:ea typeface="Arial"/>
              <a:cs typeface="Arial"/>
              <a:sym typeface="Arial"/>
            </a:endParaRPr>
          </a:p>
          <a:p>
            <a:pPr indent="0" lvl="0" marL="0" rtl="0" algn="l">
              <a:lnSpc>
                <a:spcPct val="95000"/>
              </a:lnSpc>
              <a:spcBef>
                <a:spcPts val="0"/>
              </a:spcBef>
              <a:spcAft>
                <a:spcPts val="0"/>
              </a:spcAft>
              <a:buSzPts val="688"/>
              <a:buNone/>
            </a:pPr>
            <a:r>
              <a:rPr b="1" lang="en" sz="1212">
                <a:solidFill>
                  <a:srgbClr val="343A40"/>
                </a:solidFill>
                <a:latin typeface="Arial"/>
                <a:ea typeface="Arial"/>
                <a:cs typeface="Arial"/>
                <a:sym typeface="Arial"/>
              </a:rPr>
              <a:t>R</a:t>
            </a:r>
            <a:r>
              <a:rPr lang="en" sz="1212">
                <a:solidFill>
                  <a:srgbClr val="343A40"/>
                </a:solidFill>
                <a:latin typeface="Arial"/>
                <a:ea typeface="Arial"/>
                <a:cs typeface="Arial"/>
                <a:sym typeface="Arial"/>
              </a:rPr>
              <a:t> -  perform descriptive and inferential statistical analyses (regression models ?) </a:t>
            </a:r>
            <a:endParaRPr sz="1212">
              <a:solidFill>
                <a:srgbClr val="343A40"/>
              </a:solidFill>
              <a:latin typeface="Arial"/>
              <a:ea typeface="Arial"/>
              <a:cs typeface="Arial"/>
              <a:sym typeface="Arial"/>
            </a:endParaRPr>
          </a:p>
          <a:p>
            <a:pPr indent="0" lvl="0" marL="0" rtl="0" algn="l">
              <a:lnSpc>
                <a:spcPct val="95000"/>
              </a:lnSpc>
              <a:spcBef>
                <a:spcPts val="0"/>
              </a:spcBef>
              <a:spcAft>
                <a:spcPts val="0"/>
              </a:spcAft>
              <a:buSzPts val="688"/>
              <a:buNone/>
            </a:pPr>
            <a:r>
              <a:t/>
            </a:r>
            <a:endParaRPr sz="1212">
              <a:solidFill>
                <a:srgbClr val="343A40"/>
              </a:solidFill>
            </a:endParaRPr>
          </a:p>
          <a:p>
            <a:pPr indent="0" lvl="0" marL="0" rtl="0" algn="l">
              <a:lnSpc>
                <a:spcPct val="95000"/>
              </a:lnSpc>
              <a:spcBef>
                <a:spcPts val="0"/>
              </a:spcBef>
              <a:spcAft>
                <a:spcPts val="1200"/>
              </a:spcAft>
              <a:buSzPts val="688"/>
              <a:buNone/>
            </a:pPr>
            <a:r>
              <a:t/>
            </a:r>
            <a:endParaRPr sz="1212">
              <a:solidFill>
                <a:srgbClr val="343A4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Outcome Variables and Hypotheses</a:t>
            </a:r>
            <a:endParaRPr/>
          </a:p>
        </p:txBody>
      </p:sp>
      <p:sp>
        <p:nvSpPr>
          <p:cNvPr id="85" name="Google Shape;85;p16"/>
          <p:cNvSpPr txBox="1"/>
          <p:nvPr>
            <p:ph idx="1" type="body"/>
          </p:nvPr>
        </p:nvSpPr>
        <p:spPr>
          <a:xfrm>
            <a:off x="311700" y="1266325"/>
            <a:ext cx="4260300" cy="3302700"/>
          </a:xfrm>
          <a:prstGeom prst="rect">
            <a:avLst/>
          </a:prstGeom>
        </p:spPr>
        <p:txBody>
          <a:bodyPr anchorCtr="0" anchor="t" bIns="91425" lIns="91425" spcFirstLastPara="1" rIns="91425" wrap="square" tIns="91425">
            <a:normAutofit fontScale="62500" lnSpcReduction="20000"/>
          </a:bodyPr>
          <a:lstStyle/>
          <a:p>
            <a:pPr indent="0" lvl="0" marL="0" rtl="0" algn="l">
              <a:spcBef>
                <a:spcPts val="1200"/>
              </a:spcBef>
              <a:spcAft>
                <a:spcPts val="0"/>
              </a:spcAft>
              <a:buNone/>
            </a:pPr>
            <a:r>
              <a:rPr b="1" lang="en" sz="2300">
                <a:solidFill>
                  <a:srgbClr val="000000"/>
                </a:solidFill>
                <a:latin typeface="Arial"/>
                <a:ea typeface="Arial"/>
                <a:cs typeface="Arial"/>
                <a:sym typeface="Arial"/>
              </a:rPr>
              <a:t>Outcome Variable: </a:t>
            </a:r>
            <a:r>
              <a:rPr lang="en" sz="2300">
                <a:solidFill>
                  <a:srgbClr val="000000"/>
                </a:solidFill>
                <a:latin typeface="Arial"/>
                <a:ea typeface="Arial"/>
                <a:cs typeface="Arial"/>
                <a:sym typeface="Arial"/>
              </a:rPr>
              <a:t>Political affiliation (Democrat vs. Republican)</a:t>
            </a:r>
            <a:endParaRPr sz="2300">
              <a:solidFill>
                <a:srgbClr val="000000"/>
              </a:solidFill>
              <a:latin typeface="Arial"/>
              <a:ea typeface="Arial"/>
              <a:cs typeface="Arial"/>
              <a:sym typeface="Arial"/>
            </a:endParaRPr>
          </a:p>
          <a:p>
            <a:pPr indent="0" lvl="0" marL="0" rtl="0" algn="l">
              <a:spcBef>
                <a:spcPts val="1200"/>
              </a:spcBef>
              <a:spcAft>
                <a:spcPts val="0"/>
              </a:spcAft>
              <a:buNone/>
            </a:pPr>
            <a:r>
              <a:rPr b="1" lang="en" sz="2300">
                <a:solidFill>
                  <a:srgbClr val="000000"/>
                </a:solidFill>
                <a:latin typeface="Arial"/>
                <a:ea typeface="Arial"/>
                <a:cs typeface="Arial"/>
                <a:sym typeface="Arial"/>
              </a:rPr>
              <a:t>Predictor Variables: </a:t>
            </a:r>
            <a:r>
              <a:rPr lang="en" sz="2300">
                <a:solidFill>
                  <a:srgbClr val="000000"/>
                </a:solidFill>
                <a:latin typeface="Arial"/>
                <a:ea typeface="Arial"/>
                <a:cs typeface="Arial"/>
                <a:sym typeface="Arial"/>
              </a:rPr>
              <a:t>Gender, Race, Income</a:t>
            </a:r>
            <a:endParaRPr sz="2300">
              <a:solidFill>
                <a:srgbClr val="000000"/>
              </a:solidFill>
              <a:latin typeface="Arial"/>
              <a:ea typeface="Arial"/>
              <a:cs typeface="Arial"/>
              <a:sym typeface="Arial"/>
            </a:endParaRPr>
          </a:p>
          <a:p>
            <a:pPr indent="0" lvl="0" marL="0" rtl="0" algn="l">
              <a:spcBef>
                <a:spcPts val="1200"/>
              </a:spcBef>
              <a:spcAft>
                <a:spcPts val="0"/>
              </a:spcAft>
              <a:buNone/>
            </a:pPr>
            <a:r>
              <a:rPr b="1" lang="en" sz="2300">
                <a:solidFill>
                  <a:srgbClr val="000000"/>
                </a:solidFill>
                <a:latin typeface="Arial"/>
                <a:ea typeface="Arial"/>
                <a:cs typeface="Arial"/>
                <a:sym typeface="Arial"/>
              </a:rPr>
              <a:t>Hypotheses:</a:t>
            </a:r>
            <a:endParaRPr b="1" sz="2300">
              <a:solidFill>
                <a:srgbClr val="000000"/>
              </a:solidFill>
              <a:latin typeface="Arial"/>
              <a:ea typeface="Arial"/>
              <a:cs typeface="Arial"/>
              <a:sym typeface="Arial"/>
            </a:endParaRPr>
          </a:p>
          <a:p>
            <a:pPr indent="-319881" lvl="0" marL="457200" rtl="0" algn="l">
              <a:spcBef>
                <a:spcPts val="1200"/>
              </a:spcBef>
              <a:spcAft>
                <a:spcPts val="0"/>
              </a:spcAft>
              <a:buClr>
                <a:srgbClr val="000000"/>
              </a:buClr>
              <a:buSzPct val="100000"/>
              <a:buFont typeface="Arial"/>
              <a:buChar char="●"/>
            </a:pPr>
            <a:r>
              <a:rPr lang="en" sz="2300">
                <a:solidFill>
                  <a:srgbClr val="000000"/>
                </a:solidFill>
                <a:latin typeface="Arial"/>
                <a:ea typeface="Arial"/>
                <a:cs typeface="Arial"/>
                <a:sym typeface="Arial"/>
              </a:rPr>
              <a:t>H1: Women are more likely to identify as Democrats and men as Republicans</a:t>
            </a:r>
            <a:endParaRPr sz="2300">
              <a:solidFill>
                <a:srgbClr val="000000"/>
              </a:solidFill>
              <a:latin typeface="Arial"/>
              <a:ea typeface="Arial"/>
              <a:cs typeface="Arial"/>
              <a:sym typeface="Arial"/>
            </a:endParaRPr>
          </a:p>
          <a:p>
            <a:pPr indent="-319881" lvl="0" marL="457200" rtl="0" algn="l">
              <a:spcBef>
                <a:spcPts val="0"/>
              </a:spcBef>
              <a:spcAft>
                <a:spcPts val="0"/>
              </a:spcAft>
              <a:buClr>
                <a:srgbClr val="000000"/>
              </a:buClr>
              <a:buSzPct val="100000"/>
              <a:buFont typeface="Arial"/>
              <a:buChar char="●"/>
            </a:pPr>
            <a:r>
              <a:rPr lang="en" sz="2300">
                <a:solidFill>
                  <a:srgbClr val="000000"/>
                </a:solidFill>
                <a:latin typeface="Arial"/>
                <a:ea typeface="Arial"/>
                <a:cs typeface="Arial"/>
                <a:sym typeface="Arial"/>
              </a:rPr>
              <a:t>H2: White individuals are more likely to identify as Republicans and racial minorities as Democrats.</a:t>
            </a:r>
            <a:endParaRPr sz="2300">
              <a:solidFill>
                <a:srgbClr val="000000"/>
              </a:solidFill>
              <a:latin typeface="Arial"/>
              <a:ea typeface="Arial"/>
              <a:cs typeface="Arial"/>
              <a:sym typeface="Arial"/>
            </a:endParaRPr>
          </a:p>
          <a:p>
            <a:pPr indent="-319881" lvl="0" marL="457200" rtl="0" algn="l">
              <a:spcBef>
                <a:spcPts val="0"/>
              </a:spcBef>
              <a:spcAft>
                <a:spcPts val="0"/>
              </a:spcAft>
              <a:buClr>
                <a:srgbClr val="000000"/>
              </a:buClr>
              <a:buSzPct val="100000"/>
              <a:buFont typeface="Arial"/>
              <a:buChar char="●"/>
            </a:pPr>
            <a:r>
              <a:rPr lang="en" sz="2300">
                <a:solidFill>
                  <a:srgbClr val="000000"/>
                </a:solidFill>
                <a:latin typeface="Arial"/>
                <a:ea typeface="Arial"/>
                <a:cs typeface="Arial"/>
                <a:sym typeface="Arial"/>
              </a:rPr>
              <a:t>H4: Higher income levels are associated with greater likelihood of identifying as Republicans.</a:t>
            </a:r>
            <a:endParaRPr/>
          </a:p>
        </p:txBody>
      </p:sp>
      <p:pic>
        <p:nvPicPr>
          <p:cNvPr id="86" name="Google Shape;86;p16" title="s-l1200.png"/>
          <p:cNvPicPr preferRelativeResize="0"/>
          <p:nvPr/>
        </p:nvPicPr>
        <p:blipFill>
          <a:blip r:embed="rId3">
            <a:alphaModFix/>
          </a:blip>
          <a:stretch>
            <a:fillRect/>
          </a:stretch>
        </p:blipFill>
        <p:spPr>
          <a:xfrm>
            <a:off x="4724400" y="1304825"/>
            <a:ext cx="4267200" cy="2844800"/>
          </a:xfrm>
          <a:prstGeom prst="rect">
            <a:avLst/>
          </a:prstGeom>
          <a:noFill/>
          <a:ln>
            <a:noFill/>
          </a:ln>
        </p:spPr>
      </p:pic>
      <p:sp>
        <p:nvSpPr>
          <p:cNvPr id="87" name="Google Shape;87;p16"/>
          <p:cNvSpPr txBox="1"/>
          <p:nvPr/>
        </p:nvSpPr>
        <p:spPr>
          <a:xfrm>
            <a:off x="7731450" y="4100950"/>
            <a:ext cx="21408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2"/>
                </a:solidFill>
                <a:latin typeface="Open Sans"/>
                <a:ea typeface="Open Sans"/>
                <a:cs typeface="Open Sans"/>
                <a:sym typeface="Open Sans"/>
              </a:rPr>
              <a:t>2024 Electoral Map</a:t>
            </a:r>
            <a:endParaRPr sz="800">
              <a:solidFill>
                <a:schemeClr val="dk2"/>
              </a:solidFill>
              <a:latin typeface="Open Sans"/>
              <a:ea typeface="Open Sans"/>
              <a:cs typeface="Open Sans"/>
              <a:sym typeface="Open Sans"/>
            </a:endParaRPr>
          </a:p>
        </p:txBody>
      </p:sp>
    </p:spTree>
  </p:cSld>
  <p:clrMapOvr>
    <a:masterClrMapping/>
  </p:clrMapOvr>
</p:sld>
</file>

<file path=ppt/theme/theme1.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